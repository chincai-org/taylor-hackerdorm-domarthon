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5"/>
  </p:notesMasterIdLst>
  <p:sldIdLst>
    <p:sldId id="256" r:id="rId1"/>
    <p:sldId id="257" r:id="rId2"/>
    <p:sldId id="258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presProps" Target="presProps.xml" /><Relationship Id="rId5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7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background: &quot;#0F172A&quot;, padding: 72, color: &quot;#F7F4EC&quot;, fontFamily: &quot;Aptos, Arial&quot; }}&gt;&#10;  &lt;Box style={{ position: &quot;absolute&quot;, top: 0, left: 0, width: 1280, height: 8, background: &quot;linear-gradient(135deg, #3B82F6 0%, #06B6D4 100%)&quot; }} /&gt;&#10;  &lt;Box style={{ position: &quot;absolute&quot;, top: 40, right: 72, width: 470, height: 470, border: &quot;1px solid rgba(59,130,246,0.28)&quot;, borderRadius: 235, opacity: 0.8 }} /&gt;&#10;  &lt;Box style={{ position: &quot;absolute&quot;, top: 92, right: 132, width: 350, height: 350, border: &quot;1px solid rgba(6,182,212,0.22)&quot;, borderRadius: 175 }} /&gt;&#10;  &lt;Box style={{ position: &quot;relative&quot;, width: 620, height: 520, justifyContent: &quot;center&quot; }}&gt;&#10;    &lt;Text style={{ fontSize: 16, fontWeight: &quot;bold&quot;, letterSpacing: 2, color: &quot;#06B6D4&quot;, marginBottom: 24 }}&gt;HACKERDORM DOMARTHON · 2026&lt;/Text&gt;&#10;    &lt;Text style={{ fontSize: 68, fontWeight: &quot;bold&quot;, lineHeight: 1.05, color: &quot;#F7F4EC&quot; }}&gt;Stop guessing.&lt;/Text&gt;&#10;    &lt;Text style={{ fontSize: 68, fontWeight: &quot;bold&quot;, lineHeight: 1.05, color: &quot;#3B82F6&quot; }}&gt;Optimize the harness.&lt;/Text&gt;&#10;    &lt;Box style={{ width: 520, height: 2, background: &quot;#06B6D4&quot;, marginTop: 34, marginBottom: 26 }} /&gt;&#10;    &lt;Text style={{ fontSize: 25, lineHeight: 1.45, color: &quot;#F7F4EC&quot;, opacity: 0.9 }}&gt;One AI improves another AI — measured, versioned, and never blind to failure.&lt;/Text&gt;&#10;    &lt;Text style={{ fontSize: 18, fontFamily: &quot;Consolas, Courier New&quot;, color: &quot;#06B6D4&quot;, marginTop: 34 }}&gt;HARNESS TREES&lt;/Text&gt;&#10;  &lt;/Box&gt;&#10;  &lt;Box style={{ position: &quot;absolute&quot;, top: 140, right: 124, width: 450, height: 450, alignItems: &quot;center&quot;, justifyContent: &quot;center&quot; }}&gt;&#10;    &lt;svg width={440} height={430} viewBox=&quot;0 0 440 430&quot;&gt;&#10;      &lt;path d=&quot;M220 55 L120 170 L55 290&quot; stroke=&quot;#3B82F6&quot; strokeWidth=&quot;3&quot; fill=&quot;none&quot; opacity=&quot;0.8&quot; /&gt;&#10;      &lt;path d=&quot;M220 55 L320 170 L385 290&quot; stroke=&quot;#06B6D4&quot; strokeWidth=&quot;3&quot; fill=&quot;none&quot; opacity=&quot;0.8&quot; /&gt;&#10;      &lt;path d=&quot;M120 170 L90 330&quot; stroke=&quot;#3B82F6&quot; strokeWidth=&quot;3&quot; fill=&quot;none&quot; opacity=&quot;0.55&quot; /&gt;&#10;      &lt;path d=&quot;M120 170 L170 330&quot; stroke=&quot;#3B82F6&quot; strokeWidth=&quot;3&quot; fill=&quot;none&quot; opacity=&quot;0.55&quot; /&gt;&#10;      &lt;path d=&quot;M320 170 L270 330&quot; stroke=&quot;#06B6D4&quot; strokeWidth=&quot;3&quot; fill=&quot;none&quot; opacity=&quot;0.55&quot; /&gt;&#10;      &lt;path d=&quot;M320 170 L350 330&quot; stroke=&quot;#06B6D4&quot; strokeWidth=&quot;3&quot; fill=&quot;none&quot; opacity=&quot;0.55&quot; /&gt;&#10;      &lt;circle cx=&quot;220&quot; cy=&quot;55&quot; r=&quot;24&quot; fill=&quot;#3B82F6&quot; /&gt;&#10;      &lt;circle cx=&quot;120&quot; cy=&quot;170&quot; r=&quot;19&quot; fill=&quot;#06B6D4&quot; /&gt;&#10;      &lt;circle cx=&quot;320&quot; cy=&quot;170&quot; r=&quot;19&quot; fill=&quot;#06B6D4&quot; /&gt;&#10;      &lt;circle cx=&quot;55&quot; cy=&quot;290&quot; r=&quot;14&quot; fill=&quot;#3B82F6&quot; opacity=&quot;0.82&quot; /&gt;&#10;      &lt;circle cx=&quot;90&quot; cy=&quot;330&quot; r=&quot;14&quot; fill=&quot;#3B82F6&quot; opacity=&quot;0.55&quot; /&gt;&#10;      &lt;circle cx=&quot;170&quot; cy=&quot;330&quot; r=&quot;14&quot; fill=&quot;#3B82F6&quot; opacity=&quot;0.55&quot; /&gt;&#10;      &lt;circle cx=&quot;270&quot; cy=&quot;330&quot; r=&quot;14&quot; fill=&quot;#06B6D4&quot; opacity=&quot;0.55&quot; /&gt;&#10;      &lt;circle cx=&quot;350&quot; cy=&quot;330&quot; r=&quot;14&quot; fill=&quot;#06B6D4&quot; opacity=&quot;0.55&quot; /&gt;&#10;      &lt;text x=&quot;220&quot; y=&quot;61&quot; text-anchor=&quot;middle&quot; fill=&quot;#F7F4EC&quot; font-size=&quot;14&quot; font-family=&quot;Arial&quot; font-weight=&quot;700&quot;&gt;AI&lt;/text&gt;&#10;      &lt;text x=&quot;120&quot; y=&quot;176&quot; text-anchor=&quot;middle&quot; fill=&quot;#0F172A&quot; font-size=&quot;11&quot; font-family=&quot;Arial&quot; font-weight=&quot;700&quot;&gt;v1&lt;/text&gt;&#10;      &lt;text x=&quot;320&quot; y=&quot;176&quot; text-anchor=&quot;middle&quot; fill=&quot;#0F172A&quot; font-size=&quot;11&quot; font-family=&quot;Arial&quot; font-weight=&quot;700&quot;&gt;v2&lt;/text&gt;&#10;      &lt;text x=&quot;55&quot; y=&quot;294&quot; text-anchor=&quot;middle&quot; fill=&quot;#F7F4EC&quot; font-size=&quot;9&quot; font-family=&quot;Arial&quot;&gt;fail&lt;/text&gt;&#10;      &lt;text x=&quot;90&quot; y=&quot;334&quot; text-anchor=&quot;middle&quot; fill=&quot;#F7F4EC&quot; font-size=&quot;9&quot; font-family=&quot;Arial&quot;&gt;try&lt;/text&gt;&#10;      &lt;text x=&quot;170&quot; y=&quot;334&quot; text-anchor=&quot;middle&quot; fill=&quot;#F7F4EC&quot; font-size=&quot;9&quot; font-family=&quot;Arial&quot;&gt;try&lt;/text&gt;&#10;      &lt;text x=&quot;270&quot; y=&quot;334&quot; text-anchor=&quot;middle&quot; fill=&quot;#F7F4EC&quot; font-size=&quot;9&quot; font-family=&quot;Arial&quot;&gt;try&lt;/text&gt;&#10;      &lt;text x=&quot;350&quot; y=&quot;334&quot; text-anchor=&quot;middle&quot; fill=&quot;#F7F4EC&quot; font-size=&quot;9&quot; font-family=&quot;Arial&quot;&gt;best&lt;/text&gt;&#10;    &lt;/svg&gt;&#10;  &lt;/Box&gt;&#10;  &lt;Box style={{ position: &quot;absolute&quot;, left: 72, bottom: 24, width: 1136, height: 32, flexDirection: &quot;row&quot;, justifyContent: &quot;space-between&quot;, alignItems: &quot;center&quot; }}&gt;&#10;    &lt;Text style={{ fontSize: 14, color: &quot;#F7F4EC&quot;, opacity: 0.55 }}&gt;Customer-support agents · 3-minute pitch&lt;/Text&gt;&#10;    &lt;Text style={{ fontSize: 14, color: &quot;#F7F4EC&quot;, opacity: 0.55 }}&gt;01 / 0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7029450" y="381000"/>
            <a:ext cx="4476750" cy="4476750"/>
          </a:xfrm>
          <a:prstGeom prst="roundRect">
            <a:avLst>
              <a:gd name="adj" fmla="val 50000"/>
            </a:avLst>
          </a:prstGeom>
          <a:ln w="12700">
            <a:solidFill>
              <a:srgbClr val="3B82F6">
                <a:alpha val="224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600950" y="876300"/>
            <a:ext cx="3333750" cy="3333750"/>
          </a:xfrm>
          <a:prstGeom prst="roundRect">
            <a:avLst>
              <a:gd name="adj" fmla="val 50000"/>
            </a:avLst>
          </a:prstGeom>
          <a:ln w="12700">
            <a:solidFill>
              <a:srgbClr val="06B6D4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752475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06B6D4"/>
                </a:solidFill>
                <a:latin typeface="Aptos"/>
                <a:ea typeface="Aptos"/>
              </a:rPr>
              <a:t>HACKERDORM DOMARTHON · 2026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1171575"/>
            <a:ext cx="5905500" cy="8191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F7F4EC"/>
                </a:solidFill>
                <a:latin typeface="Aptos"/>
                <a:ea typeface="Aptos"/>
              </a:rPr>
              <a:t>Stop guessing.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1990725"/>
            <a:ext cx="5905500" cy="1638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3B82F6"/>
                </a:solidFill>
                <a:latin typeface="Aptos"/>
                <a:ea typeface="Aptos"/>
              </a:rPr>
              <a:t>Optimize the harness.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" y="3952875"/>
            <a:ext cx="4953000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5372100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06B6D4"/>
                </a:solidFill>
                <a:latin typeface="Consolas"/>
                <a:ea typeface="Consolas"/>
              </a:rPr>
              <a:t>HARNESS TREES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4219575"/>
            <a:ext cx="5905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875">
                <a:solidFill>
                  <a:srgbClr val="F7F4EC">
                    <a:alpha val="90000"/>
                  </a:srgbClr>
                </a:solidFill>
                <a:latin typeface="Aptos"/>
                <a:ea typeface="Aptos"/>
              </a:rPr>
              <a:t>One AI improves another AI — measured, versioned, and never blind to failure.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772275" y="1428750"/>
            <a:ext cx="4191000" cy="4095750"/>
          </a:xfrm>
          <a:prstGeom prst="rect">
            <a:avLst/>
          </a:prstGeom>
          <a:ln/>
        </p:spPr>
      </p:pic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Aptos"/>
                <a:ea typeface="Aptos"/>
              </a:rPr>
              <a:t>Customer-support agents · 3-minute pitch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10966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Aptos"/>
                <a:ea typeface="Aptos"/>
              </a:rPr>
              <a:t>01 / 04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" name="" descr="&lt;Slide style={{ width: 1280, height: 720, background: &quot;#0F172A&quot;, padding: 72, color: &quot;#F7F4EC&quot;, fontFamily: &quot;Aptos, Arial&quot; }}&gt;&#10;  &lt;Box style={{ position: &quot;absolute&quot;, top: 0, left: 0, width: 18, height: 720, background: &quot;#3B82F6&quot; }} /&gt;&#10;  &lt;Box style={{ position: &quot;absolute&quot;, top: 24, left: 72, width: 1136, height: 96, flexDirection: &quot;row&quot;, alignItems: &quot;flex-start&quot;, justifyContent: &quot;space-between&quot; }}&gt;&#10;    &lt;Box&gt;&#10;      &lt;Text style={{ fontSize: 15, fontWeight: &quot;bold&quot;, letterSpacing: 2, color: &quot;#06B6D4&quot;, marginBottom: 10 }}&gt;THE HIDDEN LEVER&lt;/Text&gt;&#10;      &lt;Text style={{ fontSize: 36, fontWeight: &quot;bold&quot;, color: &quot;#F7F4EC&quot; }}&gt;The model is only half the product.&lt;/Text&gt;&#10;    &lt;/Box&gt;&#10;    &lt;Text style={{ fontSize: 18, fontFamily: &quot;Consolas, Courier New&quot;, color: &quot;#F7F4EC&quot;, opacity: 0.55, marginTop: 12 }}&gt;02 / 04&lt;/Text&gt;&#10;  &lt;/Box&gt;&#10;  &lt;Box style={{ position: &quot;absolute&quot;, top: 142, left: 72, width: 340, height: 476, background: &quot;#3B82F6&quot;, padding: 34, justifyContent: &quot;space-between&quot; }}&gt;&#10;    &lt;Box&gt;&#10;      &lt;Text style={{ fontSize: 24, fontWeight: &quot;bold&quot;, color: &quot;#F7F4EC&quot;, lineHeight: 1.25 }}&gt;Agent behavior lives in the wrapper.&lt;/Text&gt;&#10;      &lt;Box style={{ width: 70, height: 3, background: &quot;#06B6D4&quot;, marginTop: 22, marginBottom: 22 }} /&gt;&#10;      &lt;Text style={{ fontSize: 20, lineHeight: 1.45, color: &quot;#F7F4EC&quot; }}&gt;Prompts, tools, routing, and policy text decide what a support agent actually does.&lt;/Text&gt;&#10;    &lt;/Box&gt;&#10;    &lt;Text style={{ fontSize: 18, lineHeight: 1.35, color: &quot;#F7F4EC&quot;, opacity: 0.9 }}&gt;If the wrapper is not versioned, the team cannot explain a win — or a regression.&lt;/Text&gt;&#10;  &lt;/Box&gt;&#10;  &lt;Box style={{ position: &quot;absolute&quot;, top: 142, left: 456, width: 752, height: 476, justifyContent: &quot;space-between&quot; }}&gt;&#10;    &lt;Box style={{ height: 88, background: &quot;rgba(59,130,246,0.20)&quot;, border: &quot;1px solid rgba(59,130,246,0.65)&quot;, padding: 22, flexDirection: &quot;row&quot;, alignItems: &quot;center&quot; }}&gt;&#10;      &lt;Text style={{ width: 190, fontSize: 24, fontWeight: &quot;bold&quot;, color: &quot;#3B82F6&quot; }}&gt;SYSTEM PROMPT&lt;/Text&gt;&#10;      &lt;Text style={{ fontSize: 20, color: &quot;#F7F4EC&quot;, opacity: 0.9 }}&gt;persona · boundaries · escalation&lt;/Text&gt;&#10;    &lt;/Box&gt;&#10;    &lt;Box style={{ height: 88, background: &quot;rgba(6,182,212,0.14)&quot;, border: &quot;1px solid rgba(6,182,212,0.55)&quot;, padding: 22, flexDirection: &quot;row&quot;, alignItems: &quot;center&quot; }}&gt;&#10;      &lt;Text style={{ width: 190, fontSize: 24, fontWeight: &quot;bold&quot;, color: &quot;#06B6D4&quot; }}&gt;TOOLS&lt;/Text&gt;&#10;      &lt;Text style={{ fontSize: 20, color: &quot;#F7F4EC&quot;, opacity: 0.9 }}&gt;what the agent can query, change, or refuse&lt;/Text&gt;&#10;    &lt;/Box&gt;&#10;    &lt;Box style={{ height: 88, background: &quot;rgba(59,130,246,0.20)&quot;, border: &quot;1px solid rgba(59,130,246,0.65)&quot;, padding: 22, flexDirection: &quot;row&quot;, alignItems: &quot;center&quot; }}&gt;&#10;      &lt;Text style={{ width: 190, fontSize: 24, fontWeight: &quot;bold&quot;, color: &quot;#3B82F6&quot; }}&gt;ROUTING&lt;/Text&gt;&#10;      &lt;Text style={{ fontSize: 20, color: &quot;#F7F4EC&quot;, opacity: 0.9 }}&gt;which path runs for billing, safety, or unresolved cases&lt;/Text&gt;&#10;    &lt;/Box&gt;&#10;    &lt;Box style={{ height: 88, background: &quot;rgba(6,182,212,0.14)&quot;, border: &quot;1px solid rgba(6,182,212,0.55)&quot;, padding: 22, flexDirection: &quot;row&quot;, alignItems: &quot;center&quot; }}&gt;&#10;      &lt;Text style={{ width: 190, fontSize: 24, fontWeight: &quot;bold&quot;, color: &quot;#06B6D4&quot; }}&gt;POLICY TEXT&lt;/Text&gt;&#10;      &lt;Text style={{ fontSize: 20, color: &quot;#F7F4EC&quot;, opacity: 0.9 }}&gt;the rules that separate a safe answer from a costly one&lt;/Text&gt;&#10;    &lt;/Box&gt;&#10;  &lt;/Box&gt;&#10;  &lt;Box style={{ position: &quot;absolute&quot;, left: 72, bottom: 24, width: 1136, height: 28, flexDirection: &quot;row&quot;, justifyContent: &quot;space-between&quot;, alignItems: &quot;center&quot; }}&gt;&#10;    &lt;Text style={{ fontSize: 14, color: &quot;#F7F4EC&quot;, opacity: 0.55 }}&gt;Harness Trees · customer-support agents&lt;/Text&gt;&#10;    &lt;Text style={{ fontSize: 14, color: &quot;#F7F4EC&quot;, opacity: 0.55 }}&gt;The optimization target is the harness.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71450" cy="685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5800" y="228600"/>
            <a:ext cx="568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06B6D4"/>
                </a:solidFill>
                <a:latin typeface="Aptos"/>
                <a:ea typeface="Aptos"/>
              </a:rPr>
              <a:t>THE HIDDEN LEVER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5686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7F4EC"/>
                </a:solidFill>
                <a:latin typeface="Aptos"/>
                <a:ea typeface="Aptos"/>
              </a:rPr>
              <a:t>The model is only half the product.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839450" y="342900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7F4EC">
                    <a:alpha val="55000"/>
                  </a:srgbClr>
                </a:solidFill>
                <a:latin typeface="Consolas"/>
                <a:ea typeface="Consolas"/>
              </a:rPr>
              <a:t>02 / 04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85800" y="1352550"/>
            <a:ext cx="3238500" cy="45339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09650" y="1676400"/>
            <a:ext cx="25908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en-US" sz="1800" b="1">
                <a:solidFill>
                  <a:srgbClr val="F7F4EC"/>
                </a:solidFill>
                <a:latin typeface="Aptos"/>
                <a:ea typeface="Aptos"/>
              </a:rPr>
              <a:t>Agent behavior lives in the wrapper.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1009650" y="2571750"/>
            <a:ext cx="666750" cy="2857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09650" y="2809875"/>
            <a:ext cx="25908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500">
                <a:solidFill>
                  <a:srgbClr val="F7F4EC"/>
                </a:solidFill>
                <a:latin typeface="Aptos"/>
                <a:ea typeface="Aptos"/>
              </a:rPr>
              <a:t>Prompts, tools, routing, and policy text decide what a support agent actually does.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09650" y="4724400"/>
            <a:ext cx="25908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350">
                <a:solidFill>
                  <a:srgbClr val="F7F4EC">
                    <a:alpha val="90000"/>
                  </a:srgbClr>
                </a:solidFill>
                <a:latin typeface="Aptos"/>
                <a:ea typeface="Aptos"/>
              </a:rPr>
              <a:t>If the wrapper is not versioned, the team cannot explain a win — or a regression.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343400" y="1352550"/>
            <a:ext cx="7162800" cy="8382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552950" y="1495425"/>
            <a:ext cx="1809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Aptos"/>
                <a:ea typeface="Aptos"/>
              </a:rPr>
              <a:t>SYSTEM PROMPT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343400" y="2581275"/>
            <a:ext cx="7162800" cy="838200"/>
          </a:xfrm>
          <a:prstGeom prst="rect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552950" y="2867025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B6D4"/>
                </a:solidFill>
                <a:latin typeface="Aptos"/>
                <a:ea typeface="Aptos"/>
              </a:rPr>
              <a:t>TOOLS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343400" y="3819525"/>
            <a:ext cx="7162800" cy="8382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552950" y="4105275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Aptos"/>
                <a:ea typeface="Aptos"/>
              </a:rPr>
              <a:t>ROUTING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343400" y="5048250"/>
            <a:ext cx="7162800" cy="838200"/>
          </a:xfrm>
          <a:prstGeom prst="rect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552950" y="5334000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B6D4"/>
                </a:solidFill>
                <a:latin typeface="Aptos"/>
                <a:ea typeface="Aptos"/>
              </a:rPr>
              <a:t>POLICY TEXT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62700" y="1657350"/>
            <a:ext cx="2828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7F4EC">
                    <a:alpha val="90000"/>
                  </a:srgbClr>
                </a:solidFill>
                <a:latin typeface="Aptos"/>
                <a:ea typeface="Aptos"/>
              </a:rPr>
              <a:t>persona · boundaries · escalation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62700" y="2886075"/>
            <a:ext cx="371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7F4EC">
                    <a:alpha val="90000"/>
                  </a:srgbClr>
                </a:solidFill>
                <a:latin typeface="Aptos"/>
                <a:ea typeface="Aptos"/>
              </a:rPr>
              <a:t>what the agent can query, change, or refuse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62700" y="4124325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7F4EC">
                    <a:alpha val="90000"/>
                  </a:srgbClr>
                </a:solidFill>
                <a:latin typeface="Aptos"/>
                <a:ea typeface="Aptos"/>
              </a:rPr>
              <a:t>which path runs for billing, safety, or unresolved cases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362700" y="5353050"/>
            <a:ext cx="4638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7F4EC">
                    <a:alpha val="90000"/>
                  </a:srgbClr>
                </a:solidFill>
                <a:latin typeface="Aptos"/>
                <a:ea typeface="Aptos"/>
              </a:rPr>
              <a:t>the rules that separate a safe answer from a costly one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85800" y="64198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Aptos"/>
                <a:ea typeface="Aptos"/>
              </a:rPr>
              <a:t>Harness Trees · customer-support agents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239250" y="641985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Aptos"/>
                <a:ea typeface="Aptos"/>
              </a:rPr>
              <a:t>The optimization target is the harness.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0" name="" descr="&lt;Slide style={{ width: 1280, height: 720, background: &quot;#0F172A&quot;, padding: 72, color: &quot;#F7F4EC&quot;, fontFamily: &quot;Aptos, Arial&quot; }}&gt;&#10;  &lt;Box style={{ position: &quot;absolute&quot;, top: 0, left: 0, width: 1280, height: 8, background: &quot;linear-gradient(135deg, #3B82F6 0%, #06B6D4 100%)&quot; }} /&gt;&#10;  &lt;Box style={{ position: &quot;absolute&quot;, top: 24, left: 72, width: 1136, height: 96, flexDirection: &quot;row&quot;, alignItems: &quot;flex-start&quot;, justifyContent: &quot;space-between&quot; }}&gt;&#10;    &lt;Box&gt;&#10;      &lt;Text style={{ fontSize: 15, fontWeight: &quot;bold&quot;, letterSpacing: 2, color: &quot;#06B6D4&quot;, marginBottom: 10 }}&gt;THE OPTIMIZATION LOOP&lt;/Text&gt;&#10;      &lt;Text style={{ fontSize: 36, fontWeight: &quot;bold&quot;, color: &quot;#F7F4EC&quot; }}&gt;A closed loop for better behavior.&lt;/Text&gt;&#10;    &lt;/Box&gt;&#10;    &lt;Text style={{ fontSize: 18, fontFamily: &quot;Consolas, Courier New&quot;, color: &quot;#F7F4EC&quot;, opacity: 0.55, marginTop: 12 }}&gt;03 / 04&lt;/Text&gt;&#10;  &lt;/Box&gt;&#10;  &lt;Box style={{ position: &quot;absolute&quot;, top: 138, left: 72, width: 1136, height: 488, flexDirection: &quot;row&quot;, alignItems: &quot;center&quot; }}&gt;&#10;    &lt;Box style={{ width: 690, height: 470, alignItems: &quot;center&quot;, justifyContent: &quot;center&quot; }}&gt;&#10;      &lt;svg width={660} height={440} viewBox=&quot;0 0 660 440&quot;&gt;&#10;        &lt;path d=&quot;M330 55 C500 55 590 130 590 220 C590 315 505 385 330 385 C155 385 70 315 70 220 C70 130 160 55 330 55&quot; fill=&quot;none&quot; stroke=&quot;#3B82F6&quot; strokeWidth=&quot;4&quot; opacity=&quot;0.8&quot; /&gt;&#10;        &lt;path d=&quot;M330 55 C500 55 590 130 590 220&quot; fill=&quot;none&quot; stroke=&quot;#06B6D4&quot; strokeWidth=&quot;7&quot; strokeLinecap=&quot;round&quot; /&gt;&#10;        &lt;path d=&quot;M590 220 L570 208 M590 220 L570 233&quot; fill=&quot;none&quot; stroke=&quot;#06B6D4&quot; strokeWidth=&quot;7&quot; strokeLinecap=&quot;round&quot; /&gt;&#10;        &lt;circle cx=&quot;330&quot; cy=&quot;55&quot; r=&quot;36&quot; fill=&quot;#3B82F6&quot; /&gt;&#10;        &lt;circle cx=&quot;540&quot; cy=&quot;128&quot; r=&quot;36&quot; fill=&quot;#06B6D4&quot; /&gt;&#10;        &lt;circle cx=&quot;560&quot; cy=&quot;310&quot; r=&quot;36&quot; fill=&quot;#3B82F6&quot; /&gt;&#10;        &lt;circle cx=&quot;330&quot; cy=&quot;385&quot; r=&quot;36&quot; fill=&quot;#06B6D4&quot; /&gt;&#10;        &lt;circle cx=&quot;100&quot; cy=&quot;310&quot; r=&quot;36&quot; fill=&quot;#3B82F6&quot; /&gt;&#10;        &lt;circle cx=&quot;120&quot; cy=&quot;128&quot; r=&quot;36&quot; fill=&quot;#06B6D4&quot; /&gt;&#10;        &lt;text x=&quot;330&quot; y=&quot;50&quot; text-anchor=&quot;middle&quot; fill=&quot;#F7F4EC&quot; font-size=&quot;13&quot; font-family=&quot;Arial&quot; font-weight=&quot;700&quot;&gt;CHECK&lt;/text&gt;&#10;        &lt;text x=&quot;330&quot; y=&quot;67&quot; text-anchor=&quot;middle&quot; fill=&quot;#F7F4EC&quot; font-size=&quot;13&quot; font-family=&quot;Arial&quot; font-weight=&quot;700&quot;&gt;OUT&lt;/text&gt;&#10;        &lt;text x=&quot;540&quot; y=&quot;123&quot; text-anchor=&quot;middle&quot; fill=&quot;#0F172A&quot; font-size=&quot;13&quot; font-family=&quot;Arial&quot; font-weight=&quot;700&quot;&gt;READ&lt;/text&gt;&#10;        &lt;text x=&quot;540&quot; y=&quot;140&quot; text-anchor=&quot;middle&quot; fill=&quot;#0F172A&quot; font-size=&quot;13&quot; font-family=&quot;Arial&quot; font-weight=&quot;700&quot;&gt;NODE&lt;/text&gt;&#10;        &lt;text x=&quot;560&quot; y=&quot;305&quot; text-anchor=&quot;middle&quot; fill=&quot;#F7F4EC&quot; font-size=&quot;12&quot; font-family=&quot;Arial&quot; font-weight=&quot;700&quot;&gt;PROPOSE&lt;/text&gt;&#10;        &lt;text x=&quot;560&quot; y=&quot;322&quot; text-anchor=&quot;middle&quot; fill=&quot;#F7F4EC&quot; font-size=&quot;12&quot; font-family=&quot;Arial&quot; font-weight=&quot;700&quot;&gt;CHILD&lt;/text&gt;&#10;        &lt;text x=&quot;330&quot; y=&quot;380&quot; text-anchor=&quot;middle&quot; fill=&quot;#0F172A&quot; font-size=&quot;13&quot; font-family=&quot;Arial&quot; font-weight=&quot;700&quot;&gt;JUDGE&lt;/text&gt;&#10;        &lt;text x=&quot;330&quot; y=&quot;397&quot; text-anchor=&quot;middle&quot; fill=&quot;#0F172A&quot; font-size=&quot;13&quot; font-family=&quot;Arial&quot; font-weight=&quot;700&quot;&gt;SCORE&lt;/text&gt;&#10;        &lt;text x=&quot;100&quot; y=&quot;305&quot; text-anchor=&quot;middle&quot; fill=&quot;#F7F4EC&quot; font-size=&quot;12&quot; font-family=&quot;Arial&quot; font-weight=&quot;700&quot;&gt;KEEP&lt;/text&gt;&#10;        &lt;text x=&quot;100&quot; y=&quot;322&quot; text-anchor=&quot;middle&quot; fill=&quot;#F7F4EC&quot; font-size=&quot;12&quot; font-family=&quot;Arial&quot; font-weight=&quot;700&quot;&gt;FAILURES&lt;/text&gt;&#10;        &lt;text x=&quot;120&quot; y=&quot;123&quot; text-anchor=&quot;middle&quot; fill=&quot;#0F172A&quot; font-size=&quot;13&quot; font-family=&quot;Arial&quot; font-weight=&quot;700&quot;&gt;LEARN&lt;/text&gt;&#10;        &lt;text x=&quot;120&quot; y=&quot;140&quot; text-anchor=&quot;middle&quot; fill=&quot;#0F172A&quot; font-size=&quot;13&quot; font-family=&quot;Arial&quot; font-weight=&quot;700&quot;&gt;NEXT&lt;/text&gt;&#10;        &lt;text x=&quot;330&quot; y=&quot;220&quot; text-anchor=&quot;middle&quot; fill=&quot;#F7F4EC&quot; font-size=&quot;23&quot; font-family=&quot;Arial&quot; font-weight=&quot;700&quot;&gt;Workbuddy + MCP&lt;/text&gt;&#10;        &lt;text x=&quot;330&quot; y=&quot;248&quot; text-anchor=&quot;middle&quot; fill=&quot;#F7F4EC&quot; font-size=&quot;15&quot; font-family=&quot;Arial&quot; opacity=&quot;0.7&quot;&gt;bounded changes, exact parent revision&lt;/text&gt;&#10;      &lt;/svg&gt;&#10;    &lt;/Box&gt;&#10;    &lt;Box style={{ width: 410, height: 420, background: &quot;rgba(6,182,212,0.12)&quot;, border: &quot;1px solid rgba(6,182,212,0.55)&quot;, padding: 30, justifyContent: &quot;space-between&quot; }}&gt;&#10;      &lt;Box&gt;&#10;        &lt;Text style={{ fontSize: 25, fontWeight: &quot;bold&quot;, color: &quot;#06B6D4&quot;, marginBottom: 18 }}&gt;The guardrails matter.&lt;/Text&gt;&#10;        &lt;Text style={{ fontSize: 20, lineHeight: 1.45, color: &quot;#F7F4EC&quot; }}&gt;The optimizer never rewrites blindly. It reads the parent, sends only parent-relative changes, and keeps the full lineage.&lt;/Text&gt;&#10;      &lt;/Box&gt;&#10;      &lt;Box style={{ borderTop: &quot;1px solid rgba(6,182,212,0.55)&quot;, paddingTop: 20 }}&gt;&#10;        &lt;Text style={{ fontSize: 17, lineHeight: 1.4, color: &quot;#F7F4EC&quot;, opacity: 0.85 }}&gt;The server rolls out each benchmark scenario, then applies one fixed rubric so scores stay comparable.&lt;/Text&gt;&#10;      &lt;/Box&gt;&#10;    &lt;/Box&gt;&#10;  &lt;/Box&gt;&#10;  &lt;Box style={{ position: &quot;absolute&quot;, left: 72, bottom: 24, width: 1136, height: 28, flexDirection: &quot;row&quot;, justifyContent: &quot;space-between&quot;, alignItems: &quot;center&quot; }}&gt;&#10;    &lt;Text style={{ fontSize: 14, color: &quot;#F7F4EC&quot;, opacity: 0.55 }}&gt;MCP in · scored child out&lt;/Text&gt;&#10;    &lt;Text style={{ fontSize: 14, color: &quot;#F7F4EC&quot;, opacity: 0.55 }}&gt;From prompt tweaking to an experiment loop.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228600"/>
            <a:ext cx="5457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06B6D4"/>
                </a:solidFill>
                <a:latin typeface="Aptos"/>
                <a:ea typeface="Aptos"/>
              </a:rPr>
              <a:t>THE OPTIMIZATION LOOP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54578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7F4EC"/>
                </a:solidFill>
                <a:latin typeface="Aptos"/>
                <a:ea typeface="Aptos"/>
              </a:rPr>
              <a:t>A closed loop for better behavior.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839450" y="342900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7F4EC">
                    <a:alpha val="55000"/>
                  </a:srgbClr>
                </a:solidFill>
                <a:latin typeface="Consolas"/>
                <a:ea typeface="Consolas"/>
              </a:rPr>
              <a:t>03 / 04</a:t>
            </a:r>
            <a:endParaRPr/>
          </a:p>
        </p:txBody>
      </p:sp>
      <p:pic>
        <p:nvPicPr>
          <p:cNvPr id="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8675" y="1543050"/>
            <a:ext cx="6286500" cy="4191000"/>
          </a:xfrm>
          <a:prstGeom prst="rect">
            <a:avLst/>
          </a:prstGeom>
          <a:ln/>
        </p:spPr>
      </p:pic>
      <p:sp>
        <p:nvSpPr>
          <p:cNvPr id="47" name=""/>
          <p:cNvSpPr/>
          <p:nvPr/>
        </p:nvSpPr>
        <p:spPr>
          <a:xfrm rot="0" flipH="0" flipV="0">
            <a:off x="7258050" y="1638300"/>
            <a:ext cx="3905250" cy="4000500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543800" y="1924050"/>
            <a:ext cx="33337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6B6D4"/>
                </a:solidFill>
                <a:latin typeface="Aptos"/>
                <a:ea typeface="Aptos"/>
              </a:rPr>
              <a:t>The guardrails matter.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543800" y="2381250"/>
            <a:ext cx="3333750" cy="1333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500">
                <a:solidFill>
                  <a:srgbClr val="F7F4EC"/>
                </a:solidFill>
                <a:latin typeface="Aptos"/>
                <a:ea typeface="Aptos"/>
              </a:rPr>
              <a:t>The optimizer never rewrites blindly. It reads the parent, sends only parent-relative changes, and keeps the full lineage.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543800" y="4333875"/>
            <a:ext cx="3333750" cy="1028700"/>
          </a:xfrm>
          <a:custGeom>
            <a:pathLst>
              <a:path w="350" h="108">
                <a:moveTo>
                  <a:pt x="0" y="0"/>
                </a:moveTo>
                <a:lnTo>
                  <a:pt x="350" y="0"/>
                </a:lnTo>
                <a:lnTo>
                  <a:pt x="350" y="1"/>
                </a:lnTo>
                <a:lnTo>
                  <a:pt x="0" y="1"/>
                </a:lnTo>
                <a:close/>
              </a:path>
            </a:pathLst>
          </a:custGeom>
          <a:solidFill>
            <a:srgbClr val="06B6D4">
              <a:alpha val="55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543800" y="4533900"/>
            <a:ext cx="333375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75">
                <a:solidFill>
                  <a:srgbClr val="F7F4EC">
                    <a:alpha val="85000"/>
                  </a:srgbClr>
                </a:solidFill>
                <a:latin typeface="Aptos"/>
                <a:ea typeface="Aptos"/>
              </a:rPr>
              <a:t>The server rolls out each benchmark scenario, then applies one fixed rubric so scores stay comparable.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641985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Aptos"/>
                <a:ea typeface="Aptos"/>
              </a:rPr>
              <a:t>MCP in · scored child out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820150" y="6419850"/>
            <a:ext cx="2686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Aptos"/>
                <a:ea typeface="Aptos"/>
              </a:rPr>
              <a:t>From prompt tweaking to an experiment loop.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4" name="" descr="&lt;Slide style={{ width: 1280, height: 720, background: &quot;#0F172A&quot;, padding: 72, color: &quot;#F7F4EC&quot;, fontFamily: &quot;Aptos, Arial&quot; }}&gt;&#10;  &lt;Box style={{ position: &quot;absolute&quot;, top: 0, left: 0, width: 1280, height: 8, background: &quot;linear-gradient(135deg, #3B82F6 0%, #06B6D4 100%)&quot; }} /&gt;&#10;  &lt;Box style={{ position: &quot;absolute&quot;, top: 24, left: 72, width: 1136, height: 96, flexDirection: &quot;row&quot;, alignItems: &quot;flex-start&quot;, justifyContent: &quot;space-between&quot; }}&gt;&#10;    &lt;Box&gt;&#10;      &lt;Text style={{ fontSize: 15, fontWeight: &quot;bold&quot;, letterSpacing: 2, color: &quot;#06B6D4&quot;, marginBottom: 10 }}&gt;THE PAYOFF&lt;/Text&gt;&#10;      &lt;Text style={{ fontSize: 36, fontWeight: &quot;bold&quot;, color: &quot;#F7F4EC&quot; }}&gt;Every attempt becomes evidence.&lt;/Text&gt;&#10;    &lt;/Box&gt;&#10;    &lt;Text style={{ fontSize: 18, fontFamily: &quot;Consolas, Courier New&quot;, color: &quot;#F7F4EC&quot;, opacity: 0.55, marginTop: 12 }}&gt;04 / 04&lt;/Text&gt;&#10;  &lt;/Box&gt;&#10;  &lt;Box style={{ position: &quot;absolute&quot;, top: 155, left: 72, width: 395, height: 410, justifyContent: &quot;center&quot; }}&gt;&#10;    &lt;Text style={{ fontSize: 110, fontWeight: &quot;bold&quot;, lineHeight: 0.95, color: &quot;#3B82F6&quot; }}&gt;0–100&lt;/Text&gt;&#10;    &lt;Text style={{ fontSize: 25, fontWeight: &quot;bold&quot;, color: &quot;#F7F4EC&quot;, marginTop: 14 }}&gt;one comparable score&lt;/Text&gt;&#10;    &lt;Text style={{ fontSize: 20, lineHeight: 1.45, color: &quot;#F7F4EC&quot;, opacity: 0.85, marginTop: 20 }}&gt;Per-scenario verdicts roll up into a mean score. The rubric is fixed. The learning is cumulative.&lt;/Text&gt;&#10;  &lt;/Box&gt;&#10;  &lt;Box style={{ position: &quot;absolute&quot;, top: 144, left: 520, width: 688, height: 442, background: &quot;rgba(59,130,246,0.10)&quot;, border: &quot;1px solid rgba(59,130,246,0.45)&quot;, padding: 24 }}&gt;&#10;    &lt;Text style={{ fontSize: 18, fontWeight: &quot;bold&quot;, letterSpacing: 1.5, color: &quot;#06B6D4&quot;, marginBottom: 10 }}&gt;THE TREE REMEMBERS&lt;/Text&gt;&#10;    &lt;svg width={630} height={260} viewBox=&quot;0 0 630 260&quot;&gt;&#10;      &lt;path d=&quot;M72 126 L210 72 L350 126 L500 62&quot; stroke=&quot;#3B82F6&quot; strokeWidth=&quot;4&quot; fill=&quot;none&quot; opacity=&quot;0.8&quot; /&gt;&#10;      &lt;path d=&quot;M210 72 L350 218&quot; stroke=&quot;#3B82F6&quot; strokeWidth=&quot;4&quot; fill=&quot;none&quot; opacity=&quot;0.65&quot; /&gt;&#10;      &lt;path d=&quot;M350 126 L500 198&quot; stroke=&quot;#06B6D4&quot; strokeWidth=&quot;4&quot; fill=&quot;none&quot; opacity=&quot;0.75&quot; /&gt;&#10;      &lt;path d=&quot;M350 126 L500 62&quot; stroke=&quot;#06B6D4&quot; strokeWidth=&quot;7&quot; fill=&quot;none&quot; opacity=&quot;0.95&quot; /&gt;&#10;      &lt;circle cx=&quot;72&quot; cy=&quot;126&quot; r=&quot;24&quot; fill=&quot;#3B82F6&quot; /&gt;&#10;      &lt;circle cx=&quot;210&quot; cy=&quot;72&quot; r=&quot;24&quot; fill=&quot;#06B6D4&quot; /&gt;&#10;      &lt;circle cx=&quot;350&quot; cy=&quot;126&quot; r=&quot;24&quot; fill=&quot;#3B82F6&quot; /&gt;&#10;      &lt;circle cx=&quot;350&quot; cy=&quot;218&quot; r=&quot;20&quot; fill=&quot;#3B82F6&quot; opacity=&quot;0.58&quot; /&gt;&#10;      &lt;circle cx=&quot;500&quot; cy=&quot;62&quot; r=&quot;28&quot; fill=&quot;#06B6D4&quot; /&gt;&#10;      &lt;circle cx=&quot;500&quot; cy=&quot;198&quot; r=&quot;20&quot; fill=&quot;#3B82F6&quot; opacity=&quot;0.55&quot; /&gt;&#10;      &lt;text x=&quot;72&quot; y=&quot;131&quot; text-anchor=&quot;middle&quot; fill=&quot;#F7F4EC&quot; font-size=&quot;12&quot; font-family=&quot;Arial&quot; font-weight=&quot;700&quot;&gt;ROOT&lt;/text&gt;&#10;      &lt;text x=&quot;210&quot; y=&quot;77&quot; text-anchor=&quot;middle&quot; fill=&quot;#0F172A&quot; font-size=&quot;12&quot; font-family=&quot;Arial&quot; font-weight=&quot;700&quot;&gt;TRY&lt;/text&gt;&#10;      &lt;text x=&quot;350&quot; y=&quot;131&quot; text-anchor=&quot;middle&quot; fill=&quot;#F7F4EC&quot; font-size=&quot;12&quot; font-family=&quot;Arial&quot; font-weight=&quot;700&quot;&gt;TRY&lt;/text&gt;&#10;      &lt;text x=&quot;350&quot; y=&quot;223&quot; text-anchor=&quot;middle&quot; fill=&quot;#F7F4EC&quot; font-size=&quot;10&quot; font-family=&quot;Arial&quot;&gt;fail&lt;/text&gt;&#10;      &lt;text x=&quot;500&quot; y=&quot;67&quot; text-anchor=&quot;middle&quot; fill=&quot;#0F172A&quot; font-size=&quot;12&quot; font-family=&quot;Arial&quot; font-weight=&quot;700&quot;&gt;BEST&lt;/text&gt;&#10;      &lt;text x=&quot;500&quot; y=&quot;203&quot; text-anchor=&quot;middle&quot; fill=&quot;#F7F4EC&quot; font-size=&quot;10&quot; font-family=&quot;Arial&quot;&gt;regress&lt;/text&gt;&#10;    &lt;/svg&gt;&#10;    &lt;Box style={{ flexDirection: &quot;row&quot;, gap: 16, marginTop: 6 }}&gt;&#10;      &lt;Box style={{ flex: 1, height: 96, background: &quot;rgba(6,182,212,0.14)&quot;, padding: 16 }}&gt;&#10;        &lt;Text style={{ fontSize: 17, fontWeight: &quot;bold&quot;, color: &quot;#06B6D4&quot;, marginBottom: 8 }}&gt;Failures stay.&lt;/Text&gt;&#10;        &lt;Text style={{ fontSize: 16, lineHeight: 1.3, color: &quot;#F7F4EC&quot;, opacity: 0.85 }}&gt;They are signal, not noise.&lt;/Text&gt;&#10;      &lt;/Box&gt;&#10;      &lt;Box style={{ flex: 1, height: 96, background: &quot;rgba(59,130,246,0.18)&quot;, padding: 16 }}&gt;&#10;        &lt;Text style={{ fontSize: 17, fontWeight: &quot;bold&quot;, color: &quot;#3B82F6&quot;, marginBottom: 8 }}&gt;Next run starts informed.&lt;/Text&gt;&#10;        &lt;Text style={{ fontSize: 16, lineHeight: 1.3, color: &quot;#F7F4EC&quot;, opacity: 0.85 }}&gt;No repeated dead ends.&lt;/Text&gt;&#10;      &lt;/Box&gt;&#10;    &lt;/Box&gt;&#10;  &lt;/Box&gt;&#10;  &lt;Box style={{ position: &quot;absolute&quot;, left: 72, bottom: 24, width: 1136, height: 32, flexDirection: &quot;row&quot;, justifyContent: &quot;space-between&quot;, alignItems: &quot;center&quot; }}&gt;&#10;    &lt;Text style={{ fontSize: 16, fontWeight: &quot;bold&quot;, color: &quot;#F7F4EC&quot; }}&gt;Ask Workbuddy: “Improve this node.”&lt;/Text&gt;&#10;    &lt;Text style={{ fontSize: 14, color: &quot;#F7F4EC&quot;, opacity: 0.55 }}&gt;Harness Trees · end-to-end optimization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85800" y="228600"/>
            <a:ext cx="551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06B6D4"/>
                </a:solidFill>
                <a:latin typeface="Aptos"/>
                <a:ea typeface="Aptos"/>
              </a:rPr>
              <a:t>THE PAYOFF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55149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7F4EC"/>
                </a:solidFill>
                <a:latin typeface="Aptos"/>
                <a:ea typeface="Aptos"/>
              </a:rPr>
              <a:t>Every attempt becomes evidence.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839450" y="342900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7F4EC">
                    <a:alpha val="55000"/>
                  </a:srgbClr>
                </a:solidFill>
                <a:latin typeface="Consolas"/>
                <a:ea typeface="Consolas"/>
              </a:rPr>
              <a:t>04 / 04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2028825"/>
            <a:ext cx="3762375" cy="120015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8250" b="1">
                <a:solidFill>
                  <a:srgbClr val="3B82F6"/>
                </a:solidFill>
                <a:latin typeface="Aptos"/>
                <a:ea typeface="Aptos"/>
              </a:rPr>
              <a:t>0–100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3362325"/>
            <a:ext cx="37623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7F4EC"/>
                </a:solidFill>
                <a:latin typeface="Aptos"/>
                <a:ea typeface="Aptos"/>
              </a:rPr>
              <a:t>one comparable score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5800" y="3838575"/>
            <a:ext cx="376237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500">
                <a:solidFill>
                  <a:srgbClr val="F7F4EC">
                    <a:alpha val="85000"/>
                  </a:srgbClr>
                </a:solidFill>
                <a:latin typeface="Aptos"/>
                <a:ea typeface="Aptos"/>
              </a:rPr>
              <a:t>Per-scenario verdicts roll up into a mean score. The rubric is fixed. The learning is cumulative.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4953000" y="1371600"/>
            <a:ext cx="6553200" cy="421005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181600" y="1600200"/>
            <a:ext cx="609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13">
                <a:solidFill>
                  <a:srgbClr val="06B6D4"/>
                </a:solidFill>
                <a:latin typeface="Aptos"/>
                <a:ea typeface="Aptos"/>
              </a:rPr>
              <a:t>THE TREE REMEMBERS</a:t>
            </a:r>
            <a:endParaRPr/>
          </a:p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81600" y="1905000"/>
            <a:ext cx="6000750" cy="2476500"/>
          </a:xfrm>
          <a:prstGeom prst="rect">
            <a:avLst/>
          </a:prstGeom>
          <a:ln/>
        </p:spPr>
      </p:pic>
      <p:sp>
        <p:nvSpPr>
          <p:cNvPr id="66" name=""/>
          <p:cNvSpPr/>
          <p:nvPr/>
        </p:nvSpPr>
        <p:spPr>
          <a:xfrm rot="0" flipH="0" flipV="0">
            <a:off x="5181600" y="4438650"/>
            <a:ext cx="2971800" cy="914400"/>
          </a:xfrm>
          <a:prstGeom prst="rect">
            <a:avLst/>
          </a:prstGeom>
          <a:solidFill>
            <a:srgbClr val="06B6D4">
              <a:alpha val="14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334000" y="45910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Aptos"/>
                <a:ea typeface="Aptos"/>
              </a:rPr>
              <a:t>Failures stay.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8305800" y="4438650"/>
            <a:ext cx="2971800" cy="914400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458200" y="45910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Aptos"/>
                <a:ea typeface="Aptos"/>
              </a:rPr>
              <a:t>Next run starts informed.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334000" y="4867275"/>
            <a:ext cx="2667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>
                <a:solidFill>
                  <a:srgbClr val="F7F4EC">
                    <a:alpha val="85000"/>
                  </a:srgbClr>
                </a:solidFill>
                <a:latin typeface="Aptos"/>
                <a:ea typeface="Aptos"/>
              </a:rPr>
              <a:t>They are signal, not noise.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458200" y="4867275"/>
            <a:ext cx="2667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>
                <a:solidFill>
                  <a:srgbClr val="F7F4EC">
                    <a:alpha val="85000"/>
                  </a:srgbClr>
                </a:solidFill>
                <a:latin typeface="Aptos"/>
                <a:ea typeface="Aptos"/>
              </a:rPr>
              <a:t>No repeated dead ends.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5800" y="638175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7F4EC"/>
                </a:solidFill>
                <a:latin typeface="Aptos"/>
                <a:ea typeface="Aptos"/>
              </a:rPr>
              <a:t>Ask Workbuddy: “Improve this node.”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115425" y="6400800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Aptos"/>
                <a:ea typeface="Aptos"/>
              </a:rPr>
              <a:t>Harness Trees · end-to-end optimization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2026-10-11T03:04:13Z</dcterms:created>
  <dcterms:modified xsi:type="dcterms:W3CDTF">2026-10-11T03:04:13Z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{"AIGC":{"Label":"1","ContentProducer":"00119111010856365494821B355","ProduceID":"01a1272f1c157573a2598f72ead23a10","ReservedCode1":"","ContentPropagator":"00119111010856365494821B355","PropagateID":"01a1272f1c157573a2598f72ead23a10","ReservedCode2":""}}</vt:lpwstr>
  </property>
</Properties>
</file>